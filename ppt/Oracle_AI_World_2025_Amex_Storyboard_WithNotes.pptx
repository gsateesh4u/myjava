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 Type="http://schemas.openxmlformats.org/officeDocument/2006/relationships/printerSettings" Target="printerSettings/printerSettings1.bin"/><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notesMaster" Target="notesMasters/notesMaster1.xml"/><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everyone. Today I’ll share highlights from Oracle AI World 2025. This session is meant to give you a real sense of how Oracle is embedding AI across everything—from business operations to employee experiences—and what lessons we can take back to American Express.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Here’s how we’ll spend our hour. We’ll look at Oracle’s vision and journey, how they activated AI internally, the architecture behind Fusion AI, and some practical agent and HCM examples. I’ll also wrap up with what this means for us and open for Q&amp;A.</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Oracle’s message was clear—AI isn’t something you add later. It’s part of every process. They’re taking a platform that’s already deeply connected and infusing intelligence into it. Think of it as every transaction getting a brain.</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Let’s step back and look at Oracle’s AI journey. They’ve been at this for decades. What stood out is how quickly the shift has gone from predictive analytics to generative and now agentic AI. Each milestone built on what came before.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Inside Oracle itself, they’ve gone all‑in on AI. Over 80,000 employees use AI features daily. They didn’t start small—they set bold goals, pushed through governance, and made adoption part of daily work. That’s a mindset shift, not just a tech rollout.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six‑step framework Oracle shared is practical. It’s not just about tools—it’s about partnerships and purpose. Start with bold goals, ensure legal and security alignment, and then deliver value to users fast. I think this step‑by‑step model is something we could mirror.</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Here’s a simplified view of the Fusion AI architecture. What’s powerful is the unified data model. Finance, HR, supply chain—all share one data foundation. That’s what makes their AI contextually smart instead of fragmented.</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Generative AI in Fusion isn’t a side app—it’s built right into user flows. The examples were surprisingly human: generating performance feedback, summarizing negotiations, even writing survey questions. It’s invisible AI helping you think faster.</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Now let’s talk about AI Agent Studio. This is Oracle’s big bet. It lets teams design their own digital agents to automate and reason through workflows. The key takeaway—these aren’t generic chatbots; they’re domain‑aware assistants that can actually act.</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There are three types of agents: Answer, Action, and Workflow. Oracle’s demos showed agents scheduling interviews, creating timecards, or processing supplier requests. What makes this exciting is they collaborate like teams do—one agent can hand off to another.</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HCM, Oracle now ships dozens of agents out of the box. Managers can ask about compensation or absences in plain language. Employees can check pay details or benefits instantly. It’s a preview of how AI will change everyday employee interactions.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Redwood UX ties everything together visually. It’s fast, clean, and consistent across devices. Oracle rebuilt their apps around user journeys instead of forms—and it’s designed for AI suggestions and personalization right in the flow of work.</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 those who want to go further, Redwood can be extended. Non‑developers use Express Mode to tweak pages. Developers can use Visual Builder Studio to create full new apps. This is how Oracle customers tailor AI experiences without breaking upgrades.</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Human Resources is where the power of AI feels the most tangible. Oracle showcased how employees and managers can get instant coaching, recognition suggestions, and smarter feedback—all created by GenAI within the Fusion experience.</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Recruiting is another big win. Imagine a recruiter saying, 'Find me front‑end developers with React and TypeScript experience,' and the system delivers perfect matches. AI handles outreach, scheduling, and even writing personalized messages to candidates.</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Even operations got smarter. Oracle showed how AI helps predict and shorten maintenance windows—less than two hours of downtime per update globally. That’s continuous innovation without business disruption.</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What Oracle learned from its own journey is that AI activation changes culture. Once users see the benefit—less manual work, faster insight—they start asking for more automation. That’s how transformation sustains itself.</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 what does this mean for us at American Express? First, Fusion already has embedded AI—no integration needed. Second, we can start small with HR or Finance workflows using prebuilt agents. Third, we should work with Oracle’s AI Co‑Lab for guidance.</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Here’s our call to action: identify a few workflows where AI can reduce effort or speed decisions. Build small, measurable pilots using Agent Studio. Partner early with governance and security. Then scale what works. That’s how Oracle did it.</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That’s a wrap on Oracle AI World 2025. I hope this gave you clarity on what’s coming and where we can lead. Let’s open it up for your thoughts—what ideas or use cases stood out that we should explore further?</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b="1">
                <a:solidFill>
                  <a:srgbClr val="C74634"/>
                </a:solidFill>
              </a:defRPr>
            </a:pPr>
            <a:r>
              <a:t>Oracle AI World 2025 – Highlights &amp; Key Learnings for American Express</a:t>
            </a:r>
          </a:p>
        </p:txBody>
      </p:sp>
      <p:sp>
        <p:nvSpPr>
          <p:cNvPr id="3" name="Content Placeholder 2"/>
          <p:cNvSpPr>
            <a:spLocks noGrp="1"/>
          </p:cNvSpPr>
          <p:nvPr>
            <p:ph idx="1"/>
          </p:nvPr>
        </p:nvSpPr>
        <p:spPr/>
        <p:txBody>
          <a:bodyPr/>
          <a:lstStyle/>
          <a:p/>
          <a:p>
            <a:pPr>
              <a:defRPr sz="1800"/>
            </a:pPr>
            <a:r>
              <a:t>Prepared by: Sateesh Gullipalli</a:t>
            </a:r>
          </a:p>
          <a:p>
            <a:pPr>
              <a:defRPr sz="1800"/>
            </a:pPr>
            <a:r>
              <a:t>Duration: 60 minutes</a:t>
            </a:r>
          </a:p>
          <a:p>
            <a:pPr>
              <a:defRPr sz="1800"/>
            </a:pPr>
            <a:r>
              <a:t>Format: Business insights, architecture, adoption learnings, and next steps.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b="1">
                <a:solidFill>
                  <a:srgbClr val="C74634"/>
                </a:solidFill>
              </a:defRPr>
            </a:pPr>
            <a:r>
              <a:t>Agenda</a:t>
            </a:r>
          </a:p>
        </p:txBody>
      </p:sp>
      <p:sp>
        <p:nvSpPr>
          <p:cNvPr id="3" name="Content Placeholder 2"/>
          <p:cNvSpPr>
            <a:spLocks noGrp="1"/>
          </p:cNvSpPr>
          <p:nvPr>
            <p:ph idx="1"/>
          </p:nvPr>
        </p:nvSpPr>
        <p:spPr/>
        <p:txBody>
          <a:bodyPr/>
          <a:lstStyle/>
          <a:p/>
          <a:p>
            <a:pPr>
              <a:defRPr sz="1800"/>
            </a:pPr>
            <a:r>
              <a:t>1. Oracle’s Vision &amp; Journey</a:t>
            </a:r>
          </a:p>
          <a:p>
            <a:pPr>
              <a:defRPr sz="1800"/>
            </a:pPr>
            <a:r>
              <a:t>2. AI Activation Framework</a:t>
            </a:r>
          </a:p>
          <a:p>
            <a:pPr>
              <a:defRPr sz="1800"/>
            </a:pPr>
            <a:r>
              <a:t>3. Fusion AI &amp; Generative AI</a:t>
            </a:r>
          </a:p>
          <a:p>
            <a:pPr>
              <a:defRPr sz="1800"/>
            </a:pPr>
            <a:r>
              <a:t>4. AI Agent Studio</a:t>
            </a:r>
          </a:p>
          <a:p>
            <a:pPr>
              <a:defRPr sz="1800"/>
            </a:pPr>
            <a:r>
              <a:t>5. Redwood &amp; Extensibility</a:t>
            </a:r>
          </a:p>
          <a:p>
            <a:pPr>
              <a:defRPr sz="1800"/>
            </a:pPr>
            <a:r>
              <a:t>6. HCM &amp; Recruiting AI</a:t>
            </a:r>
          </a:p>
          <a:p>
            <a:pPr>
              <a:defRPr sz="1800"/>
            </a:pPr>
            <a:r>
              <a:t>7. Operations Excellence</a:t>
            </a:r>
          </a:p>
          <a:p>
            <a:pPr>
              <a:defRPr sz="1800"/>
            </a:pPr>
            <a:r>
              <a:t>8. Key Takeaways &amp; Action Plan</a:t>
            </a:r>
          </a:p>
          <a:p>
            <a:pPr>
              <a:defRPr sz="1800"/>
            </a:pPr>
            <a:r>
              <a:t>9. Q&amp;A</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b="1">
                <a:solidFill>
                  <a:srgbClr val="C74634"/>
                </a:solidFill>
              </a:defRPr>
            </a:pPr>
            <a:r>
              <a:t>Oracle’s Vision: AI Built In, Not Bolted On</a:t>
            </a:r>
          </a:p>
        </p:txBody>
      </p:sp>
      <p:sp>
        <p:nvSpPr>
          <p:cNvPr id="3" name="Content Placeholder 2"/>
          <p:cNvSpPr>
            <a:spLocks noGrp="1"/>
          </p:cNvSpPr>
          <p:nvPr>
            <p:ph idx="1"/>
          </p:nvPr>
        </p:nvSpPr>
        <p:spPr/>
        <p:txBody>
          <a:bodyPr/>
          <a:lstStyle/>
          <a:p/>
          <a:p>
            <a:pPr>
              <a:defRPr sz="1800"/>
            </a:pPr>
            <a:r>
              <a:t>Oracle’s message: AI is native to Fusion, not added later.</a:t>
            </a:r>
          </a:p>
          <a:p>
            <a:pPr>
              <a:defRPr sz="1800"/>
            </a:pPr>
            <a:r>
              <a:t>Embedded intelligence across ERP, HCM, SCM, CX.</a:t>
            </a:r>
          </a:p>
          <a:p>
            <a:pPr>
              <a:defRPr sz="1800"/>
            </a:pPr>
            <a:r>
              <a:t>Goal: Make every process smarter, faster, more personal.</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b="1">
                <a:solidFill>
                  <a:srgbClr val="C74634"/>
                </a:solidFill>
              </a:defRPr>
            </a:pPr>
            <a:r>
              <a:t>Oracle’s AI Journey</a:t>
            </a:r>
          </a:p>
        </p:txBody>
      </p:sp>
      <p:sp>
        <p:nvSpPr>
          <p:cNvPr id="3" name="Content Placeholder 2"/>
          <p:cNvSpPr>
            <a:spLocks noGrp="1"/>
          </p:cNvSpPr>
          <p:nvPr>
            <p:ph idx="1"/>
          </p:nvPr>
        </p:nvSpPr>
        <p:spPr/>
        <p:txBody>
          <a:bodyPr/>
          <a:lstStyle/>
          <a:p/>
          <a:p>
            <a:pPr>
              <a:defRPr sz="1800"/>
            </a:pPr>
            <a:r>
              <a:t>2001 – ML in Oracle Database</a:t>
            </a:r>
          </a:p>
          <a:p>
            <a:pPr>
              <a:defRPr sz="1800"/>
            </a:pPr>
            <a:r>
              <a:t>2017 – First AI Apps Released</a:t>
            </a:r>
          </a:p>
          <a:p>
            <a:pPr>
              <a:defRPr sz="1800"/>
            </a:pPr>
            <a:r>
              <a:t>2023 – GenAI embedded in Fusion</a:t>
            </a:r>
          </a:p>
          <a:p>
            <a:pPr>
              <a:defRPr sz="1800"/>
            </a:pPr>
            <a:r>
              <a:t>2025 – AI Agents and Agent Studio</a:t>
            </a:r>
          </a:p>
          <a:p>
            <a:pPr>
              <a:defRPr sz="1800"/>
            </a:pPr>
            <a:r>
              <a:t>Evolution: Predictive → Generative → Agentic AI.</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b="1">
                <a:solidFill>
                  <a:srgbClr val="C74634"/>
                </a:solidFill>
              </a:defRPr>
            </a:pPr>
            <a:r>
              <a:t>Oracle’s Internal AI Activation</a:t>
            </a:r>
          </a:p>
        </p:txBody>
      </p:sp>
      <p:sp>
        <p:nvSpPr>
          <p:cNvPr id="3" name="Content Placeholder 2"/>
          <p:cNvSpPr>
            <a:spLocks noGrp="1"/>
          </p:cNvSpPr>
          <p:nvPr>
            <p:ph idx="1"/>
          </p:nvPr>
        </p:nvSpPr>
        <p:spPr/>
        <p:txBody>
          <a:bodyPr/>
          <a:lstStyle/>
          <a:p/>
          <a:p>
            <a:pPr>
              <a:defRPr sz="1800"/>
            </a:pPr>
            <a:r>
              <a:t>82K employees using AI daily.</a:t>
            </a:r>
          </a:p>
          <a:p>
            <a:pPr>
              <a:defRPr sz="1800"/>
            </a:pPr>
            <a:r>
              <a:t>150+ AI features live internally.</a:t>
            </a:r>
          </a:p>
          <a:p>
            <a:pPr>
              <a:defRPr sz="1800"/>
            </a:pPr>
            <a:r>
              <a:t>Goal-driven rollout: 100 features in 3 months.</a:t>
            </a:r>
          </a:p>
          <a:p>
            <a:pPr>
              <a:defRPr sz="1800"/>
            </a:pPr>
            <a:r>
              <a:t>Legal &amp; security integrated early.</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b="1">
                <a:solidFill>
                  <a:srgbClr val="C74634"/>
                </a:solidFill>
              </a:defRPr>
            </a:pPr>
            <a:r>
              <a:t>AI Activation Framework – 6 Steps</a:t>
            </a:r>
          </a:p>
        </p:txBody>
      </p:sp>
      <p:sp>
        <p:nvSpPr>
          <p:cNvPr id="3" name="Content Placeholder 2"/>
          <p:cNvSpPr>
            <a:spLocks noGrp="1"/>
          </p:cNvSpPr>
          <p:nvPr>
            <p:ph idx="1"/>
          </p:nvPr>
        </p:nvSpPr>
        <p:spPr/>
        <p:txBody>
          <a:bodyPr/>
          <a:lstStyle/>
          <a:p/>
          <a:p>
            <a:pPr>
              <a:defRPr sz="1800"/>
            </a:pPr>
            <a:r>
              <a:t>1. Set bold activation goals</a:t>
            </a:r>
          </a:p>
          <a:p>
            <a:pPr>
              <a:defRPr sz="1800"/>
            </a:pPr>
            <a:r>
              <a:t>2. Partner with Legal &amp; Security</a:t>
            </a:r>
          </a:p>
          <a:p>
            <a:pPr>
              <a:defRPr sz="1800"/>
            </a:pPr>
            <a:r>
              <a:t>3. Curate RAG content</a:t>
            </a:r>
          </a:p>
          <a:p>
            <a:pPr>
              <a:defRPr sz="1800"/>
            </a:pPr>
            <a:r>
              <a:t>4. Deploy to users</a:t>
            </a:r>
          </a:p>
          <a:p>
            <a:pPr>
              <a:defRPr sz="1800"/>
            </a:pPr>
            <a:r>
              <a:t>5. Explore use cases</a:t>
            </a:r>
          </a:p>
          <a:p>
            <a:pPr>
              <a:defRPr sz="1800"/>
            </a:pPr>
            <a:r>
              <a:t>6. Fine-tune via Agent Studio.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b="1">
                <a:solidFill>
                  <a:srgbClr val="C74634"/>
                </a:solidFill>
              </a:defRPr>
            </a:pPr>
            <a:r>
              <a:t>Fusion AI Architecture</a:t>
            </a:r>
          </a:p>
        </p:txBody>
      </p:sp>
      <p:sp>
        <p:nvSpPr>
          <p:cNvPr id="3" name="Content Placeholder 2"/>
          <p:cNvSpPr>
            <a:spLocks noGrp="1"/>
          </p:cNvSpPr>
          <p:nvPr>
            <p:ph idx="1"/>
          </p:nvPr>
        </p:nvSpPr>
        <p:spPr/>
        <p:txBody>
          <a:bodyPr/>
          <a:lstStyle/>
          <a:p/>
          <a:p>
            <a:pPr>
              <a:defRPr sz="1800"/>
            </a:pPr>
            <a:r>
              <a:t>Fusion AI built on OCI with unified data model.</a:t>
            </a:r>
          </a:p>
          <a:p>
            <a:pPr>
              <a:defRPr sz="1800"/>
            </a:pPr>
            <a:r>
              <a:t>AI Agent Studio connects securely to ERP, HCM, SCM, CX.</a:t>
            </a:r>
          </a:p>
          <a:p>
            <a:pPr>
              <a:defRPr sz="1800"/>
            </a:pPr>
            <a:r>
              <a:t>Supports human oversight, governance, and scalability.</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b="1">
                <a:solidFill>
                  <a:srgbClr val="C74634"/>
                </a:solidFill>
              </a:defRPr>
            </a:pPr>
            <a:r>
              <a:t>Generative AI in Fusion</a:t>
            </a:r>
          </a:p>
        </p:txBody>
      </p:sp>
      <p:sp>
        <p:nvSpPr>
          <p:cNvPr id="3" name="Content Placeholder 2"/>
          <p:cNvSpPr>
            <a:spLocks noGrp="1"/>
          </p:cNvSpPr>
          <p:nvPr>
            <p:ph idx="1"/>
          </p:nvPr>
        </p:nvSpPr>
        <p:spPr/>
        <p:txBody>
          <a:bodyPr/>
          <a:lstStyle/>
          <a:p/>
          <a:p>
            <a:pPr>
              <a:defRPr sz="1800"/>
            </a:pPr>
            <a:r>
              <a:t>Embedded AI – Oracle delivered and updated quarterly.</a:t>
            </a:r>
          </a:p>
          <a:p>
            <a:pPr>
              <a:defRPr sz="1800"/>
            </a:pPr>
            <a:r>
              <a:t>Extensible AI – custom prompts, workflows, and LLM selection.</a:t>
            </a:r>
          </a:p>
          <a:p>
            <a:pPr>
              <a:defRPr sz="1800"/>
            </a:pPr>
            <a:r>
              <a:t>Example: goal feedback, supplier discovery, variance narratives.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b="1">
                <a:solidFill>
                  <a:srgbClr val="C74634"/>
                </a:solidFill>
              </a:defRPr>
            </a:pPr>
            <a:r>
              <a:t>Oracle AI Agent Studio</a:t>
            </a:r>
          </a:p>
        </p:txBody>
      </p:sp>
      <p:sp>
        <p:nvSpPr>
          <p:cNvPr id="3" name="Content Placeholder 2"/>
          <p:cNvSpPr>
            <a:spLocks noGrp="1"/>
          </p:cNvSpPr>
          <p:nvPr>
            <p:ph idx="1"/>
          </p:nvPr>
        </p:nvSpPr>
        <p:spPr/>
        <p:txBody>
          <a:bodyPr/>
          <a:lstStyle/>
          <a:p/>
          <a:p>
            <a:pPr>
              <a:defRPr sz="1800"/>
            </a:pPr>
            <a:r>
              <a:t>Design, deploy, and manage AI agents.</a:t>
            </a:r>
          </a:p>
          <a:p>
            <a:pPr>
              <a:defRPr sz="1800"/>
            </a:pPr>
            <a:r>
              <a:t>Prebuilt templates for HR, Finance, SCM.</a:t>
            </a:r>
          </a:p>
          <a:p>
            <a:pPr>
              <a:defRPr sz="1800"/>
            </a:pPr>
            <a:r>
              <a:t>Agents can answer, act, and orchestrate workflows.</a:t>
            </a:r>
          </a:p>
          <a:p>
            <a:pPr>
              <a:defRPr sz="1800"/>
            </a:pPr>
            <a:r>
              <a:t>Key tools: REST, Document, Business Object, Calculator.</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b="1">
                <a:solidFill>
                  <a:srgbClr val="C74634"/>
                </a:solidFill>
              </a:defRPr>
            </a:pPr>
            <a:r>
              <a:t>Types of Agents</a:t>
            </a:r>
          </a:p>
        </p:txBody>
      </p:sp>
      <p:sp>
        <p:nvSpPr>
          <p:cNvPr id="3" name="Content Placeholder 2"/>
          <p:cNvSpPr>
            <a:spLocks noGrp="1"/>
          </p:cNvSpPr>
          <p:nvPr>
            <p:ph idx="1"/>
          </p:nvPr>
        </p:nvSpPr>
        <p:spPr/>
        <p:txBody>
          <a:bodyPr/>
          <a:lstStyle/>
          <a:p/>
          <a:p>
            <a:pPr>
              <a:defRPr sz="1800"/>
            </a:pPr>
            <a:r>
              <a:t>Answer Agents – Q&amp;A and guidance.</a:t>
            </a:r>
          </a:p>
          <a:p>
            <a:pPr>
              <a:defRPr sz="1800"/>
            </a:pPr>
            <a:r>
              <a:t>Action Agents – execute business tasks.</a:t>
            </a:r>
          </a:p>
          <a:p>
            <a:pPr>
              <a:defRPr sz="1800"/>
            </a:pPr>
            <a:r>
              <a:t>Workflow Agents – multi-step process automation.</a:t>
            </a:r>
          </a:p>
          <a:p>
            <a:pPr>
              <a:defRPr sz="1800"/>
            </a:pPr>
            <a:r>
              <a:t>Example: Time Assistant, Compensation Advisor.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b="1">
                <a:solidFill>
                  <a:srgbClr val="C74634"/>
                </a:solidFill>
              </a:defRPr>
            </a:pPr>
            <a:r>
              <a:t>HCM AI Agents</a:t>
            </a:r>
          </a:p>
        </p:txBody>
      </p:sp>
      <p:sp>
        <p:nvSpPr>
          <p:cNvPr id="3" name="Content Placeholder 2"/>
          <p:cNvSpPr>
            <a:spLocks noGrp="1"/>
          </p:cNvSpPr>
          <p:nvPr>
            <p:ph idx="1"/>
          </p:nvPr>
        </p:nvSpPr>
        <p:spPr/>
        <p:txBody>
          <a:bodyPr/>
          <a:lstStyle/>
          <a:p/>
          <a:p>
            <a:pPr>
              <a:defRPr sz="1800"/>
            </a:pPr>
            <a:r>
              <a:t>Manager Agents: Compensation, Talent, Leave, Employment.</a:t>
            </a:r>
          </a:p>
          <a:p>
            <a:pPr>
              <a:defRPr sz="1800"/>
            </a:pPr>
            <a:r>
              <a:t>Worker Agents: Pay, Benefits, Leave.</a:t>
            </a:r>
          </a:p>
          <a:p>
            <a:pPr>
              <a:defRPr sz="1800"/>
            </a:pPr>
            <a:r>
              <a:t>Concierge Teams unify multiple specialists.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b="1">
                <a:solidFill>
                  <a:srgbClr val="C74634"/>
                </a:solidFill>
              </a:defRPr>
            </a:pPr>
            <a:r>
              <a:t>Redwood UX Experience</a:t>
            </a:r>
          </a:p>
        </p:txBody>
      </p:sp>
      <p:sp>
        <p:nvSpPr>
          <p:cNvPr id="3" name="Content Placeholder 2"/>
          <p:cNvSpPr>
            <a:spLocks noGrp="1"/>
          </p:cNvSpPr>
          <p:nvPr>
            <p:ph idx="1"/>
          </p:nvPr>
        </p:nvSpPr>
        <p:spPr/>
        <p:txBody>
          <a:bodyPr/>
          <a:lstStyle/>
          <a:p/>
          <a:p>
            <a:pPr>
              <a:defRPr sz="1800"/>
            </a:pPr>
            <a:r>
              <a:t>Oracle’s modern UI layer enabling AI-driven personalization.</a:t>
            </a:r>
          </a:p>
          <a:p>
            <a:pPr>
              <a:defRPr sz="1800"/>
            </a:pPr>
            <a:r>
              <a:t>Streamlined, fast, and cross-device experience.</a:t>
            </a:r>
          </a:p>
          <a:p>
            <a:pPr>
              <a:defRPr sz="1800"/>
            </a:pPr>
            <a:r>
              <a:t>Design system integrated with Fusion data and AI.</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b="1">
                <a:solidFill>
                  <a:srgbClr val="C74634"/>
                </a:solidFill>
              </a:defRPr>
            </a:pPr>
            <a:r>
              <a:t>Extending Redwood Applications</a:t>
            </a:r>
          </a:p>
        </p:txBody>
      </p:sp>
      <p:sp>
        <p:nvSpPr>
          <p:cNvPr id="3" name="Content Placeholder 2"/>
          <p:cNvSpPr>
            <a:spLocks noGrp="1"/>
          </p:cNvSpPr>
          <p:nvPr>
            <p:ph idx="1"/>
          </p:nvPr>
        </p:nvSpPr>
        <p:spPr/>
        <p:txBody>
          <a:bodyPr/>
          <a:lstStyle/>
          <a:p/>
          <a:p>
            <a:pPr>
              <a:defRPr sz="1800"/>
            </a:pPr>
            <a:r>
              <a:t>Express Mode – page-level personalization directly in app.</a:t>
            </a:r>
          </a:p>
          <a:p>
            <a:pPr>
              <a:defRPr sz="1800"/>
            </a:pPr>
            <a:r>
              <a:t>Advanced Mode – build full apps using VB Studio.</a:t>
            </a:r>
          </a:p>
          <a:p>
            <a:pPr>
              <a:defRPr sz="1800"/>
            </a:pPr>
            <a:r>
              <a:t>Create, test, and deploy extensions securely.</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b="1">
                <a:solidFill>
                  <a:srgbClr val="C74634"/>
                </a:solidFill>
              </a:defRPr>
            </a:pPr>
            <a:r>
              <a:t>AI in Human Resources</a:t>
            </a:r>
          </a:p>
        </p:txBody>
      </p:sp>
      <p:sp>
        <p:nvSpPr>
          <p:cNvPr id="3" name="Content Placeholder 2"/>
          <p:cNvSpPr>
            <a:spLocks noGrp="1"/>
          </p:cNvSpPr>
          <p:nvPr>
            <p:ph idx="1"/>
          </p:nvPr>
        </p:nvSpPr>
        <p:spPr/>
        <p:txBody>
          <a:bodyPr/>
          <a:lstStyle/>
          <a:p/>
          <a:p>
            <a:pPr>
              <a:defRPr sz="1800"/>
            </a:pPr>
            <a:r>
              <a:t>Oracle HCM infused with AI for recruiting, performance, and growth.</a:t>
            </a:r>
          </a:p>
          <a:p>
            <a:pPr>
              <a:defRPr sz="1800"/>
            </a:pPr>
            <a:r>
              <a:t>Automated goal setting, recognition, and performance feedback.</a:t>
            </a:r>
          </a:p>
          <a:p>
            <a:pPr>
              <a:defRPr sz="1800"/>
            </a:pPr>
            <a:r>
              <a:t>Enhanced candidate and employee experience.</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b="1">
                <a:solidFill>
                  <a:srgbClr val="C74634"/>
                </a:solidFill>
              </a:defRPr>
            </a:pPr>
            <a:r>
              <a:t>Recruiting AI Experience</a:t>
            </a:r>
          </a:p>
        </p:txBody>
      </p:sp>
      <p:sp>
        <p:nvSpPr>
          <p:cNvPr id="3" name="Content Placeholder 2"/>
          <p:cNvSpPr>
            <a:spLocks noGrp="1"/>
          </p:cNvSpPr>
          <p:nvPr>
            <p:ph idx="1"/>
          </p:nvPr>
        </p:nvSpPr>
        <p:spPr/>
        <p:txBody>
          <a:bodyPr/>
          <a:lstStyle/>
          <a:p/>
          <a:p>
            <a:pPr>
              <a:defRPr sz="1800"/>
            </a:pPr>
            <a:r>
              <a:t>Candidate Coach – personalized discovery.</a:t>
            </a:r>
          </a:p>
          <a:p>
            <a:pPr>
              <a:defRPr sz="1800"/>
            </a:pPr>
            <a:r>
              <a:t>Sourcing Agent – intelligent outreach.</a:t>
            </a:r>
          </a:p>
          <a:p>
            <a:pPr>
              <a:defRPr sz="1800"/>
            </a:pPr>
            <a:r>
              <a:t>Interview Agent – scheduling and feedback.</a:t>
            </a:r>
          </a:p>
          <a:p>
            <a:pPr>
              <a:defRPr sz="1800"/>
            </a:pPr>
            <a:r>
              <a:t>Hiring Agent – decision support and onboarding.</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b="1">
                <a:solidFill>
                  <a:srgbClr val="C74634"/>
                </a:solidFill>
              </a:defRPr>
            </a:pPr>
            <a:r>
              <a:t>Operational Excellence</a:t>
            </a:r>
          </a:p>
        </p:txBody>
      </p:sp>
      <p:sp>
        <p:nvSpPr>
          <p:cNvPr id="3" name="Content Placeholder 2"/>
          <p:cNvSpPr>
            <a:spLocks noGrp="1"/>
          </p:cNvSpPr>
          <p:nvPr>
            <p:ph idx="1"/>
          </p:nvPr>
        </p:nvSpPr>
        <p:spPr/>
        <p:txBody>
          <a:bodyPr/>
          <a:lstStyle/>
          <a:p/>
          <a:p>
            <a:pPr>
              <a:defRPr sz="1800"/>
            </a:pPr>
            <a:r>
              <a:t>&lt;2 hours downtime per quarterly update.</a:t>
            </a:r>
          </a:p>
          <a:p>
            <a:pPr>
              <a:defRPr sz="1800"/>
            </a:pPr>
            <a:r>
              <a:t>29K+ updates across 65 regions.</a:t>
            </a:r>
          </a:p>
          <a:p>
            <a:pPr>
              <a:defRPr sz="1800"/>
            </a:pPr>
            <a:r>
              <a:t>AI-assisted testing, maintenance, and release automation.</a:t>
            </a:r>
          </a:p>
          <a:p>
            <a:pPr>
              <a:defRPr sz="1800"/>
            </a:pPr>
            <a:r>
              <a:t>Ensures continuous innovation and reliability.</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b="1">
                <a:solidFill>
                  <a:srgbClr val="C74634"/>
                </a:solidFill>
              </a:defRPr>
            </a:pPr>
            <a:r>
              <a:t>Oracle’s Internal Learnings</a:t>
            </a:r>
          </a:p>
        </p:txBody>
      </p:sp>
      <p:sp>
        <p:nvSpPr>
          <p:cNvPr id="3" name="Content Placeholder 2"/>
          <p:cNvSpPr>
            <a:spLocks noGrp="1"/>
          </p:cNvSpPr>
          <p:nvPr>
            <p:ph idx="1"/>
          </p:nvPr>
        </p:nvSpPr>
        <p:spPr/>
        <p:txBody>
          <a:bodyPr/>
          <a:lstStyle/>
          <a:p/>
          <a:p>
            <a:pPr>
              <a:defRPr sz="1800"/>
            </a:pPr>
            <a:r>
              <a:t>AI activation = cultural shift, not tech upgrade.</a:t>
            </a:r>
          </a:p>
          <a:p>
            <a:pPr>
              <a:defRPr sz="1800"/>
            </a:pPr>
            <a:r>
              <a:t>Governance, compliance, and efficiency improved.</a:t>
            </a:r>
          </a:p>
          <a:p>
            <a:pPr>
              <a:defRPr sz="1800"/>
            </a:pPr>
            <a:r>
              <a:t>Thousands of hours saved annually with automation.</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b="1">
                <a:solidFill>
                  <a:srgbClr val="C74634"/>
                </a:solidFill>
              </a:defRPr>
            </a:pPr>
            <a:r>
              <a:t>Key Takeaways for American Express</a:t>
            </a:r>
          </a:p>
        </p:txBody>
      </p:sp>
      <p:sp>
        <p:nvSpPr>
          <p:cNvPr id="3" name="Content Placeholder 2"/>
          <p:cNvSpPr>
            <a:spLocks noGrp="1"/>
          </p:cNvSpPr>
          <p:nvPr>
            <p:ph idx="1"/>
          </p:nvPr>
        </p:nvSpPr>
        <p:spPr/>
        <p:txBody>
          <a:bodyPr/>
          <a:lstStyle/>
          <a:p/>
          <a:p>
            <a:pPr>
              <a:defRPr sz="1800"/>
            </a:pPr>
            <a:r>
              <a:t>1. AI is embedded in Fusion.</a:t>
            </a:r>
          </a:p>
          <a:p>
            <a:pPr>
              <a:defRPr sz="1800"/>
            </a:pPr>
            <a:r>
              <a:t>2. Start small with prebuilt agents.</a:t>
            </a:r>
          </a:p>
          <a:p>
            <a:pPr>
              <a:defRPr sz="1800"/>
            </a:pPr>
            <a:r>
              <a:t>3. Partner with Oracle AI Co-Lab.</a:t>
            </a:r>
          </a:p>
          <a:p>
            <a:pPr>
              <a:defRPr sz="1800"/>
            </a:pPr>
            <a:r>
              <a:t>4. Use Redwood + VB Studio for agility.</a:t>
            </a:r>
          </a:p>
          <a:p>
            <a:pPr>
              <a:defRPr sz="1800"/>
            </a:pPr>
            <a:r>
              <a:t>5. Measure ROI via efficiency &amp; experience gains.</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b="1">
                <a:solidFill>
                  <a:srgbClr val="C74634"/>
                </a:solidFill>
              </a:defRPr>
            </a:pPr>
            <a:r>
              <a:t>Call to Action</a:t>
            </a:r>
          </a:p>
        </p:txBody>
      </p:sp>
      <p:sp>
        <p:nvSpPr>
          <p:cNvPr id="3" name="Content Placeholder 2"/>
          <p:cNvSpPr>
            <a:spLocks noGrp="1"/>
          </p:cNvSpPr>
          <p:nvPr>
            <p:ph idx="1"/>
          </p:nvPr>
        </p:nvSpPr>
        <p:spPr/>
        <p:txBody>
          <a:bodyPr/>
          <a:lstStyle/>
          <a:p/>
          <a:p>
            <a:pPr>
              <a:defRPr sz="1800"/>
            </a:pPr>
            <a:r>
              <a:t>Engage Oracle to assess AI maturity.</a:t>
            </a:r>
          </a:p>
          <a:p>
            <a:pPr>
              <a:defRPr sz="1800"/>
            </a:pPr>
            <a:r>
              <a:t>Select pilot workflows for AI Agent Studio.</a:t>
            </a:r>
          </a:p>
          <a:p>
            <a:pPr>
              <a:defRPr sz="1800"/>
            </a:pPr>
            <a:r>
              <a:t>Plan for phased activation with quarterly innovations.</a:t>
            </a:r>
          </a:p>
          <a:p>
            <a:pPr>
              <a:defRPr sz="1800"/>
            </a:pPr>
            <a:r>
              <a:t>Empower teams through AI awareness and training.</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b="1">
                <a:solidFill>
                  <a:srgbClr val="C74634"/>
                </a:solidFill>
              </a:defRPr>
            </a:pPr>
            <a:r>
              <a:t>Q&amp;A</a:t>
            </a:r>
          </a:p>
        </p:txBody>
      </p:sp>
      <p:sp>
        <p:nvSpPr>
          <p:cNvPr id="3" name="Content Placeholder 2"/>
          <p:cNvSpPr>
            <a:spLocks noGrp="1"/>
          </p:cNvSpPr>
          <p:nvPr>
            <p:ph idx="1"/>
          </p:nvPr>
        </p:nvSpPr>
        <p:spPr/>
        <p:txBody>
          <a:bodyPr/>
          <a:lstStyle/>
          <a:p/>
          <a:p>
            <a:pPr>
              <a:defRPr sz="1800"/>
            </a:pPr>
            <a:r>
              <a:t>Thank you!</a:t>
            </a:r>
          </a:p>
          <a:p>
            <a:pPr>
              <a:defRPr sz="1800"/>
            </a:pPr>
            <a:r>
              <a:t>Let’s discuss how these lessons can shape our AI roadmap at American Express.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